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NeuraPlox — The AI Operating System for Enterprises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27432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DDEE"/>
                </a:solidFill>
                <a:latin typeface="Calibri"/>
              </a:defRPr>
            </a:pPr>
            <a:r>
              <a:t>Where agents build their own interfaces. Governance-safe by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Neurawork GmbH &amp; Co. KG | Founded 2024 | 15 employees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Calibri"/>
              </a:defRPr>
            </a:pPr>
            <a:r>
              <a:t>Seed Round | Christoph Knöll | kontakt@neurawork.de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02  |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Enterprise AI is Stuck Between PoC and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The Mittelstand is willing but structurally blocked. Three compounding failures create a €1.5B infrastructure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THE N×M TAX:  </a:t>
            </a:r>
            <a:r>
              <a:rPr sz="1300" b="0">
                <a:solidFill>
                  <a:srgbClr val="CCDDEE"/>
                </a:solidFill>
                <a:latin typeface="Calibri"/>
              </a:rPr>
              <a:t>Every agent needs custom connections to every data source — 60% of KI project costs go to redundant infrastructure. 63% of KMU report cost overruns averaging 34%.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NO GOVERNANCE = NO DEPLOYMENT:  </a:t>
            </a:r>
            <a:r>
              <a:rPr sz="1300" b="0">
                <a:solidFill>
                  <a:srgbClr val="CCDDEE"/>
                </a:solidFill>
                <a:latin typeface="Calibri"/>
              </a:rPr>
              <a:t>Without compliance and auditability, nothing reaches production. EU AI Act mandates governance for high-risk systems by August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VENDOR LOCK-IN:  </a:t>
            </a:r>
            <a:r>
              <a:rPr sz="1300" b="0">
                <a:solidFill>
                  <a:srgbClr val="CCDDEE"/>
                </a:solidFill>
                <a:latin typeface="Calibri"/>
              </a:rPr>
              <a:t>Hyperscalers prohibit switching; Palantir/Dataiku price out the Mittelstand. Agent frameworks offer no deployment or governance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THE GAP:  </a:t>
            </a:r>
            <a:r>
              <a:rPr sz="1300" b="0">
                <a:solidFill>
                  <a:srgbClr val="CCDDEE"/>
                </a:solidFill>
                <a:latin typeface="Calibri"/>
              </a:rPr>
              <a:t>86% of KMU recognize AI's strategic relevance — only 23% have operationalized it. A 63-point intention-action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86% of KMU recognize AI strategic relevance — only 23% operationalized (maximal.digital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73% of enterprises: inadequate AI agent governance (Langflow/DataStax 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60% of KI project costs: redundant infrastructure, not value creation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03  |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SAP for the AI Era — One OS, Any Agent, Any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NeuraPlox eliminates N×M integration complexity and makes AI agents production-safe — the missing infrastructure layer for 70,000 Mittelstand companies.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CATEGORY:  </a:t>
            </a:r>
            <a:r>
              <a:rPr sz="1300" b="0">
                <a:solidFill>
                  <a:srgbClr val="CCDDEE"/>
                </a:solidFill>
                <a:latin typeface="Calibri"/>
              </a:rPr>
              <a:t>Agent OS — the infrastructure running all AI agents. N×M integrations reduced to N+M.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MOAT:  </a:t>
            </a:r>
            <a:r>
              <a:rPr sz="1300" b="0">
                <a:solidFill>
                  <a:srgbClr val="CCDDEE"/>
                </a:solidFill>
                <a:latin typeface="Calibri"/>
              </a:rPr>
              <a:t>Proprietary 3D-Policy governance (WHO × WHAT × WHICH DATA) — EU AI Act compliant by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TRACTION:  </a:t>
            </a:r>
            <a:r>
              <a:rPr sz="1300" b="0">
                <a:solidFill>
                  <a:srgbClr val="CCDDEE"/>
                </a:solidFill>
                <a:latin typeface="Calibri"/>
              </a:rPr>
              <a:t>25+ projects, &gt;€1M consulting revenue, €237K ZIM grant, four live pilots. Financial services beachhead.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BUSINESS:  </a:t>
            </a:r>
            <a:r>
              <a:rPr sz="1300" b="0">
                <a:solidFill>
                  <a:srgbClr val="CCDDEE"/>
                </a:solidFill>
                <a:latin typeface="Calibri"/>
              </a:rPr>
              <a:t>Consulting (30% GM) → SaaS (70%) → Marketplace (80%+). Year 3: €3M ARR. €2M Seed.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25+ enterprise projects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€237,375 ZIM grant (45% R&amp;D co-funded)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Target ACV: €24K–€60K | Year 3 SOM: €3M ARR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04  | 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N+M Architecture: Agents Connect to Any System Automatically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Agents auto-create their own IT interfaces — N×M becomes N+M, with governance gating every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HOW IT WORKS:  </a:t>
            </a:r>
            <a:r>
              <a:rPr sz="1300" b="0">
                <a:solidFill>
                  <a:srgbClr val="CCDDEE"/>
                </a:solidFill>
                <a:latin typeface="Calibri"/>
              </a:rPr>
              <a:t>Agents declare what they need → platform resolves connections automatically → governance gates every action → full audit trail. Zero custom integrations.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N+M BREAKTHROUGH:  </a:t>
            </a:r>
            <a:r>
              <a:rPr sz="1300" b="0">
                <a:solidFill>
                  <a:srgbClr val="CCDDEE"/>
                </a:solidFill>
                <a:latin typeface="Calibri"/>
              </a:rPr>
              <a:t>N agents + M data sources = N+M connections, not N×M. Three core connectors (Microsoft 365, SAP, DMS) cover 80% of Mittelstand data needs.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GOVERNANCE AS UNLOCK:  </a:t>
            </a:r>
            <a:r>
              <a:rPr sz="1300" b="0">
                <a:solidFill>
                  <a:srgbClr val="CCDDEE"/>
                </a:solidFill>
                <a:latin typeface="Calibri"/>
              </a:rPr>
              <a:t>WHO can do WHAT with WHICH DATA. Every agent has its own permission matrix and audit trail. EU AI Act compliant by 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IMPACT:  </a:t>
            </a:r>
            <a:r>
              <a:rPr sz="1300" b="0">
                <a:solidFill>
                  <a:srgbClr val="CCDDEE"/>
                </a:solidFill>
                <a:latin typeface="Calibri"/>
              </a:rPr>
              <a:t>Infrastructure cost 60% → &lt;30%. Implementation 3–6 months → &lt;6 weeks. Entry €24K/year vs. Palantir €150K+.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MOAT:  </a:t>
            </a:r>
            <a:r>
              <a:rPr sz="1300" b="0">
                <a:solidFill>
                  <a:srgbClr val="CCDDEE"/>
                </a:solidFill>
                <a:latin typeface="Calibri"/>
              </a:rPr>
              <a:t>As AI models commoditize, governance + integration becomes MORE valuable. Every new agent makes connectors more valuable; every new connector makes agents more capable.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Infrastructure cost: 60% → &lt;30% of project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Implementation time: 3–6 months → &lt;6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Entry ACV: €24K/year vs. Palantir €150K+/year (6–10× cheaper)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05  | 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Governance by Design — The 3D-Policy Moat No One Else 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Every AI agent is a first-class identity with its own permission matrix — governed, not just monitored.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3D-POLICY MODEL:  </a:t>
            </a:r>
            <a:r>
              <a:rPr sz="1300" b="0">
                <a:solidFill>
                  <a:srgbClr val="CCDDEE"/>
                </a:solidFill>
                <a:latin typeface="Calibri"/>
              </a:rPr>
              <a:t>WHO (agent identity, certification tier) × WHAT (data access, actions, inter-agent comms) × WHICH DATA (categories, PII classification). Agents need context-dependent policy, not static roles.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AUDIT TRAIL:  </a:t>
            </a:r>
            <a:r>
              <a:rPr sz="1300" b="0">
                <a:solidFill>
                  <a:srgbClr val="CCDDEE"/>
                </a:solidFill>
                <a:latin typeface="Calibri"/>
              </a:rPr>
              <a:t>Every agent action traced end-to-end. Input firewall + output control + PII detection targeting &gt;95% precision/recall on German business documents. Compliance dashboards for EU AI 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UNIFIED DATA ACCESS:  </a:t>
            </a:r>
            <a:r>
              <a:rPr sz="1300" b="0">
                <a:solidFill>
                  <a:srgbClr val="CCDDEE"/>
                </a:solidFill>
                <a:latin typeface="Calibri"/>
              </a:rPr>
              <a:t>Bidirectional connectors for Microsoft 365, SAP, DMS — 80% of Mittelstand needs. New connectors added declaratively. Read AND write — unlike analytics-only platforms.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AGENT REGISTRY:  </a:t>
            </a:r>
            <a:r>
              <a:rPr sz="1300" b="0">
                <a:solidFill>
                  <a:srgbClr val="CCDDEE"/>
                </a:solidFill>
                <a:latin typeface="Calibri"/>
              </a:rPr>
              <a:t>Lifecycle management, permission matrices, 3-tier certification for third-party Ploxe. Open SDK for partners.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IP:  </a:t>
            </a:r>
            <a:r>
              <a:rPr sz="1300" b="0">
                <a:solidFill>
                  <a:srgbClr val="CCDDEE"/>
                </a:solidFill>
                <a:latin typeface="Calibri"/>
              </a:rPr>
              <a:t>Governance layer proprietary (trade secret). Infrastructure layer open-sourced for adoption. Patent planned post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PII detection target: &gt;95% precision and &gt;95% recall on German business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Policy evaluation latency target: &lt;2 seconds for full 4-stage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3-tier agent certification framework — unique in market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06  | 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Agent OS Window Is Open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Regulatory pressure, technology readiness, and proven demand converge in a 12–18 month category-creation window.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EU AI ACT CATALYST:  </a:t>
            </a:r>
            <a:r>
              <a:rPr sz="1300" b="0">
                <a:solidFill>
                  <a:srgbClr val="CCDDEE"/>
                </a:solidFill>
                <a:latin typeface="Calibri"/>
              </a:rPr>
              <a:t>Mandatory governance for high-risk AI systems by August 2026. 56% of enterprises see AI Act as burden without a 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LLM COST COLLAPSE:  </a:t>
            </a:r>
            <a:r>
              <a:rPr sz="1300" b="0">
                <a:solidFill>
                  <a:srgbClr val="CCDDEE"/>
                </a:solidFill>
                <a:latin typeface="Calibri"/>
              </a:rPr>
              <a:t>GPT-4 class inference dropped 90%+ since 2023 — agent automation now viable for Mittelstand. Gartner: 40%+ enterprise apps with embedded agents by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DEMAND SIGNAL:  </a:t>
            </a:r>
            <a:r>
              <a:rPr sz="1300" b="0">
                <a:solidFill>
                  <a:srgbClr val="CCDDEE"/>
                </a:solidFill>
                <a:latin typeface="Calibri"/>
              </a:rPr>
              <a:t>25+ consulting projects prove enterprises pay €80K–€150K per project for infrastructure NeuraPlox standardizes.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SOVEREIGNTY TAILWIND:  </a:t>
            </a:r>
            <a:r>
              <a:rPr sz="1300" b="0">
                <a:solidFill>
                  <a:srgbClr val="CCDDEE"/>
                </a:solidFill>
                <a:latin typeface="Calibri"/>
              </a:rPr>
              <a:t>93% of German companies prefer German AI providers. BMWK investing €5B+ in AI sovereignty.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EU AI Act compliance mandatory: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Gartner: 40%+ enterprise apps with embedded agents by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93% of German companies prefer German AI providers (Bitkom 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07  | 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 Are Not Competing — We Are Defining a New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On infrastructure depth × Mittelstand economics, NeuraPlox stands alone. Every other player optimizes for one axis.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POSITIONING:  </a:t>
            </a:r>
            <a:r>
              <a:rPr sz="1300" b="0">
                <a:solidFill>
                  <a:srgbClr val="CCDDEE"/>
                </a:solidFill>
                <a:latin typeface="Calibri"/>
              </a:rPr>
              <a:t>Infrastructure depth × Mittelstand economics. NeuraPlox: deep architecture + affordable. Palantir/Dataiku: deep but €48K–€150K+. LangChain/CrewAI: no production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MOAT (4 LAYERS):  </a:t>
            </a:r>
            <a:r>
              <a:rPr sz="1300" b="0">
                <a:solidFill>
                  <a:srgbClr val="CCDDEE"/>
                </a:solidFill>
                <a:latin typeface="Calibri"/>
              </a:rPr>
              <a:t>Architectural (3D-Policy — unique agent identity governance). Network (N+M connector effects). Regulatory (EU AI Act switching costs). Sovereign (German company, EU data).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VS. EACH CATEGORY:  </a:t>
            </a:r>
            <a:r>
              <a:rPr sz="1300" b="0">
                <a:solidFill>
                  <a:srgbClr val="CCDDEE"/>
                </a:solidFill>
                <a:latin typeface="Calibri"/>
              </a:rPr>
              <a:t>Hyperscalers = lock-in. Enterprise platforms = priced out. Agent frameworks = no governance. Adoption tools = NeuraPlox is the infrastructure they'd run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COMMODITIZATION:  </a:t>
            </a:r>
            <a:r>
              <a:rPr sz="1300" b="0">
                <a:solidFill>
                  <a:srgbClr val="CCDDEE"/>
                </a:solidFill>
                <a:latin typeface="Calibri"/>
              </a:rPr>
              <a:t>As LLMs commoditize, governance + integration becomes the durable asset. Model-agnostic by design.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NeuraPlox entry: €24K/year vs. Palantir €150K+/year (6–10× cheaper)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vs. Dataiku: 2× cheaper at entry, with agent governance Dataiku cannot provide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vs. LangChain: production-ready in &lt;6 weeks vs. 3–6 months of custom infrastructure 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08  | 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25+ Enterprise Projects, €1M+ Revenue, Four Live Pilots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Consulting-funded PMF, government-validated technology, and measurable customer outcomes across financial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CUSTOMER ROI:  </a:t>
            </a:r>
            <a:r>
              <a:rPr sz="1300" b="0">
                <a:solidFill>
                  <a:srgbClr val="CCDDEE"/>
                </a:solidFill>
                <a:latin typeface="Calibri"/>
              </a:rPr>
              <a:t>Tax advisory pilot — ML pattern recognition on Jahresabschlussbuchungen cut manual review time by ~40%. Typical customer saves €48K–€90K/year in infrastructure costs vs. rebuilding per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EXPANSION (NDR PROXY):  </a:t>
            </a:r>
            <a:r>
              <a:rPr sz="1300" b="0">
                <a:solidFill>
                  <a:srgbClr val="CCDDEE"/>
                </a:solidFill>
                <a:latin typeface="Calibri"/>
              </a:rPr>
              <a:t>Engagements grow from 1–2 use cases in Year 1 to 4–6 by Year 3 — ~300% ARPU expansion, implying ~150% net dollar retention at platform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VALIDATION:  </a:t>
            </a:r>
            <a:r>
              <a:rPr sz="1300" b="0">
                <a:solidFill>
                  <a:srgbClr val="CCDDEE"/>
                </a:solidFill>
                <a:latin typeface="Calibri"/>
              </a:rPr>
              <a:t>ZIM grant €237K (45% of €527K). TRL 4→7 in progress. Four pilots with real enterprise data. Financial services vertical beachhead.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CAPITAL EFFICIENCY:  </a:t>
            </a:r>
            <a:r>
              <a:rPr sz="1300" b="0">
                <a:solidFill>
                  <a:srgbClr val="CCDDEE"/>
                </a:solidFill>
                <a:latin typeface="Calibri"/>
              </a:rPr>
              <a:t>&gt;€1M consulting revenue. 15 people bootstrapped in 2 years. Zero institutional capital. Consulting covers team; ZIM covers R&amp;D.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Consulting revenue: &gt;€1M annual run-rate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NDR proxy: ~150% (1–2 use cases → 4–6 by Year 3, ~300% ARPU expansion)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Customer ROI: ~40% reduction in manual review time; €48K–€90K/yr infrastructure savings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09  |  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Consulting Funds Today, Platform Captures Tomorrow, Marketplace Multiplies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Three-horizon model: services (30% GM) → platform SaaS (70% GM) → marketplace (80%+ GM). Each horizon de-risks the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H1 — CONSULTING (NOW, ~30% GM):  </a:t>
            </a:r>
            <a:r>
              <a:rPr sz="1300" b="0">
                <a:solidFill>
                  <a:srgbClr val="CCDDEE"/>
                </a:solidFill>
                <a:latin typeface="Calibri"/>
              </a:rPr>
              <a:t>Bootstrapped to 15 employees. Every engagement funds R&amp;D and generates a future platform customer. Zero-CAC acquisition channel.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H2 — PLATFORM SaaS (12–18 MO, ~70% GM): €24K–96K ACV. Per-agent, per-connector pricing. 2× cheaper than Dataiku, 6× cheaper than Palantir.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H3 — MARKETPLACE (24+ MO, ~80%+ GM):  </a:t>
            </a:r>
            <a:r>
              <a:rPr sz="1300" b="0">
                <a:solidFill>
                  <a:srgbClr val="CCDDEE"/>
                </a:solidFill>
                <a:latin typeface="Calibri"/>
              </a:rPr>
              <a:t>15–25% revenue share on third-party Ploxe. SDK licensing. Certification fees. Scales without proportional headcount.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UNIT ECONOMICS:  </a:t>
            </a:r>
            <a:r>
              <a:rPr sz="1300" b="0">
                <a:solidFill>
                  <a:srgbClr val="CCDDEE"/>
                </a:solidFill>
                <a:latin typeface="Calibri"/>
              </a:rPr>
              <a:t>Entry €24K → expansion €60K+ by Year 3 (~150% NDR proxy). Implementation &lt;6 weeks. ZIM covers 45% of R&amp;D.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SUBSTITUTION:  </a:t>
            </a:r>
            <a:r>
              <a:rPr sz="1300" b="0">
                <a:solidFill>
                  <a:srgbClr val="CCDDEE"/>
                </a:solidFill>
                <a:latin typeface="Calibri"/>
              </a:rPr>
              <a:t>NeuraPlox replaces recurring infrastructure rebuilds (€48K–€90K per project). ROI amortizes on Project 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Entry ACV: €24,000/year | Expansion ACV: €60,000+ by Year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Gross margin trajectory: 30% (consulting) → 70% (SaaS) → 80%+ (marketplace)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Burn multiple target: &lt;1.5× once platform revenue begins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10  |  MARKET SIZING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Creating the Agent OS Category — €1.5B DACH SAM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70,000 Mittelstand ICPs × 45% AI adoption = 30,000 addressable. SOM Year 3 is &lt;0.2% of SAM — conservative.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BOTTOM-UP:  </a:t>
            </a:r>
            <a:r>
              <a:rPr sz="1300" b="0">
                <a:solidFill>
                  <a:srgbClr val="CCDDEE"/>
                </a:solidFill>
                <a:latin typeface="Calibri"/>
              </a:rPr>
              <a:t>70,000 Mittelstand ICPs, 50–500 employees, DACH (IfM Bonn). AI adoption 36% in 2025 (Bitkom), projected ~45% by 2027. SAM: ~30,000 companies × €50K ACV = ~€1.5B/year.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SOM YEAR 3:  </a:t>
            </a:r>
            <a:r>
              <a:rPr sz="1300" b="0">
                <a:solidFill>
                  <a:srgbClr val="CCDDEE"/>
                </a:solidFill>
                <a:latin typeface="Calibri"/>
              </a:rPr>
              <a:t>50 customers × €60K ACV = €3M ARR. &lt;0.2% of SAM — deliberately conservative.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GLOBAL CONTEXT:  </a:t>
            </a:r>
            <a:r>
              <a:rPr sz="1300" b="0">
                <a:solidFill>
                  <a:srgbClr val="CCDDEE"/>
                </a:solidFill>
                <a:latin typeface="Calibri"/>
              </a:rPr>
              <a:t>AI Platform Market $18.2B → $94B by 2030 (38.9% CAGR). Europe 29–33% share. Agent OS is a new sub-category.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CATEGORY CREATION:  </a:t>
            </a:r>
            <a:r>
              <a:rPr sz="1300" b="0">
                <a:solidFill>
                  <a:srgbClr val="CCDDEE"/>
                </a:solidFill>
                <a:latin typeface="Calibri"/>
              </a:rPr>
              <a:t>SAP started DACH, won globally. Agent OS: DACH beachhead, European sovereignty as moat, marketplace as international scale mechanism.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ICP count: 70,000 companies (IfM Bonn, 50–500 employees, DACH)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SAM: ~30,000 companies × avg €50K ACV = ~€1.5B/year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SOM Year 3: €3M ARR (50 customers) = &lt;0.2% of SAM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11  |  GO TO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Land via Consulting, Expand via Platform, Open via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Zero wasted acquisition spend — consulting provides warm pipeline at no CAC.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ICP:  </a:t>
            </a:r>
            <a:r>
              <a:rPr sz="1300" b="0">
                <a:solidFill>
                  <a:srgbClr val="CCDDEE"/>
                </a:solidFill>
                <a:latin typeface="Calibri"/>
              </a:rPr>
              <a:t>CTOs at Mittelstand companies (50–500 employees, DACH). Triggers: AI project cost overrun, EU AI Act compliance, N×M integration tax.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PHASE 1 — LAND (Year 1, 10 customers): Convert ZIM pilots. Consulting = warm leads at ~€0 CAC. Financial services vertical focus.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PHASE 2 — EXPAND (Year 2, 30–50 customers): Self-serve onboarding. 5–10 IT consultancies as certified partners. 1 Plox → 4–6 Ploxe per customer.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DDEE"/>
                </a:solidFill>
                <a:latin typeface="Calibri"/>
              </a:defRPr>
            </a:pPr>
            <a:r>
              <a:t>PHASE 3 — OPEN (Year 3+): Marketplace (15–25% rev share). DACH → Austria, Switzerland, Benelux via local SI partners. Platform scales internationally without linear headcount.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TRUST:  </a:t>
            </a:r>
            <a:r>
              <a:rPr sz="1300" b="0">
                <a:solidFill>
                  <a:srgbClr val="CCDDEE"/>
                </a:solidFill>
                <a:latin typeface="Calibri"/>
              </a:rPr>
              <a:t>93% of German companies prefer German AI providers. ISO 27001/42001 as procurement differentiator.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Year 1 target: 10 paying platform customers, ~€600K ARR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Year 2 target: 30–50 customers, ~€2.4M ARR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Sales cycle estimate: 60–90 days (managed service entry)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12  |  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Revenue Trajectory: €600K → €2.4M → €3M+ ARR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Consulting offsets burn today. Platform converts in 12 months. Break-even at ~40–50 customers.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TRAJECTORY:  </a:t>
            </a:r>
            <a:r>
              <a:rPr sz="1300" b="0">
                <a:solidFill>
                  <a:srgbClr val="CCDDEE"/>
                </a:solidFill>
                <a:latin typeface="Calibri"/>
              </a:rPr>
              <a:t>Year 1: €600K ARR (10 customers). Year 2: €2.4M ARR (40 customers). Year 3: €3M+ ARR + ecosystem revenue from marketplace.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BURN PROFILE:  </a:t>
            </a:r>
            <a:r>
              <a:rPr sz="1300" b="0">
                <a:solidFill>
                  <a:srgbClr val="CCDDEE"/>
                </a:solidFill>
                <a:latin typeface="Calibri"/>
              </a:rPr>
              <a:t>Consulting &gt;€1M covers operations. ZIM €237K covers R&amp;D. Burn multiple target: &lt;1.5×. Path to break-even: ~40–50 customers.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FLYWHEEL:  </a:t>
            </a:r>
            <a:r>
              <a:rPr sz="1300" b="0">
                <a:solidFill>
                  <a:srgbClr val="CCDDEE"/>
                </a:solidFill>
                <a:latin typeface="Calibri"/>
              </a:rPr>
              <a:t>More agents → more connectors → better governance → more trust → more agents. Open architecture = sticky through value, not lock-in.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INTERNATIONAL SCALE:  </a:t>
            </a:r>
            <a:r>
              <a:rPr sz="1300" b="0">
                <a:solidFill>
                  <a:srgbClr val="CCDDEE"/>
                </a:solidFill>
                <a:latin typeface="Calibri"/>
              </a:rPr>
              <a:t>Marketplace enables DACH → European expansion without proportional headcount. SI partner channel replicates consulting GTM in new markets.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Year 1: €600K ARR (10 customers × €60K ACV)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Break-even: ~40–50 customers (~€2.4–3M ARR)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Burn multiple target: &lt;1.5× once platform revenue begins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13  | 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15 People, 25+ Deployments, Deep Enterprise AI Domain Expertise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Two enterprise transformation founders + 13 senior engineers. 25+ real deployments = unfair product intuition.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CHRISTOPH KNÖLL (CEO):  </a:t>
            </a:r>
            <a:r>
              <a:rPr sz="1300" b="0">
                <a:solidFill>
                  <a:srgbClr val="CCDDEE"/>
                </a:solidFill>
                <a:latin typeface="Calibri"/>
              </a:rPr>
              <a:t>Ex-PwC Senior Manager Transactions — M&amp;A, IT, KI strategy (double-digit millions EUR). TÜV SÜD Innovator. EU AI Act certified. Enterprise credibility + technical depth.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SYLVIA KNÖLL (COO):  </a:t>
            </a:r>
            <a:r>
              <a:rPr sz="1300" b="0">
                <a:solidFill>
                  <a:srgbClr val="CCDDEE"/>
                </a:solidFill>
                <a:latin typeface="Calibri"/>
              </a:rPr>
              <a:t>Transformation expertise from Allianz and Oliver Wyman. Led organizational change across financial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ENGINEERING (13):  </a:t>
            </a:r>
            <a:r>
              <a:rPr sz="1300" b="0">
                <a:solidFill>
                  <a:srgbClr val="CCDDEE"/>
                </a:solidFill>
                <a:latin typeface="Calibri"/>
              </a:rPr>
              <a:t>Senior Software Architect (interim platform lead), ML/AI Engineer (RAG + PII), DevOps (K8s + GitOps), NLP/ML Specialist, Security Engineer. All 5+ years.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UNFAIR ADVANTAGE:  </a:t>
            </a:r>
            <a:r>
              <a:rPr sz="1300" b="0">
                <a:solidFill>
                  <a:srgbClr val="CCDDEE"/>
                </a:solidFill>
                <a:latin typeface="Calibri"/>
              </a:rPr>
              <a:t>25+ real deployments — financial services vertical depth from tax advisory, due diligence, bookkeeping automation. Consulting experience IS product intuition.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CTO HIRE:  </a:t>
            </a:r>
            <a:r>
              <a:rPr sz="1300" b="0">
                <a:solidFill>
                  <a:srgbClr val="CCDDEE"/>
                </a:solidFill>
                <a:latin typeface="Calibri"/>
              </a:rPr>
              <a:t>Priority #1. Profile: K8s/distributed systems + platform product. Active search with Q2 2026 target. Senior Architect leads platform engineering until hire closes.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15-person team, bootstrapped in 2 years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25+ enterprise KI projects: Due Diligence AI, order automation, care worker placement, warehouse logistics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Combined enterprise transformation experience: PwC, Allianz, Oliver Wyman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14  |  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€2,000,000 Seed Round — One Number, Defended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€2M funds platform launch, CTO hire, and first 10 paying customers — Series A proof points in 18 months.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THE ASK:  </a:t>
            </a:r>
            <a:r>
              <a:rPr sz="1300" b="0">
                <a:solidFill>
                  <a:srgbClr val="CCDDEE"/>
                </a:solidFill>
                <a:latin typeface="Calibri"/>
              </a:rPr>
              <a:t>€2,000,000 Seed. ZIM (€237K) covers 45% of core R&amp;D. Consulting offsets operations. Effective runway: 24+ months.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USE OF FUNDS:  </a:t>
            </a:r>
            <a:r>
              <a:rPr sz="1300" b="0">
                <a:solidFill>
                  <a:srgbClr val="CCDDEE"/>
                </a:solidFill>
                <a:latin typeface="Calibri"/>
              </a:rPr>
              <a:t>(1) CTO + 2–3 engineers — 50%. (2) Platform GA launch — 30%. (3) SDK + Marketplace beta — 20%.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18-MONTH MILESTONES:  </a:t>
            </a:r>
            <a:r>
              <a:rPr sz="1300" b="0">
                <a:solidFill>
                  <a:srgbClr val="CCDDEE"/>
                </a:solidFill>
                <a:latin typeface="Calibri"/>
              </a:rPr>
              <a:t>Platform GA with pilots live. 10 paying customers. Marketplace beta. ISO readiness. €600K ARR.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WHY NOW:  </a:t>
            </a:r>
            <a:r>
              <a:rPr sz="1300" b="0">
                <a:solidFill>
                  <a:srgbClr val="CCDDEE"/>
                </a:solidFill>
                <a:latin typeface="Calibri"/>
              </a:rPr>
              <a:t>Without this raise, platform launches 12+ months slower — risking category window. EU AI Act August 2026 creates urgency.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SERIES A BRIDGE:  </a:t>
            </a:r>
            <a:r>
              <a:rPr sz="1300" b="0">
                <a:solidFill>
                  <a:srgbClr val="CCDDEE"/>
                </a:solidFill>
                <a:latin typeface="Calibri"/>
              </a:rPr>
              <a:t>€600K ARR + 10 customers + marketplace beta = metrics for €10–15M raise.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Raise: €2,000,000 (one number)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18-month target: €600K ARR, 10 paying platform 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Series A bridge: €3–5M ARR target, €10–15M raise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Calibri"/>
              </a:defRPr>
            </a:pPr>
            <a:r>
              <a:t>15  | 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Open AI OS for Europe — Built Here, Governed Here, Sovereign 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2286000" cy="254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EE"/>
                </a:solidFill>
                <a:latin typeface="Calibri"/>
              </a:defRPr>
            </a:pPr>
            <a:r>
              <a:t>Every enterprise will run AI agents. The question is ON WHAT. Open. Governed. European.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THE CATEGORY MOMENT:  </a:t>
            </a:r>
            <a:r>
              <a:rPr sz="1300" b="0">
                <a:solidFill>
                  <a:srgbClr val="CCDDEE"/>
                </a:solidFill>
                <a:latin typeface="Calibri"/>
              </a:rPr>
              <a:t>SAP defined enterprise operations. Salesforce defined CRM. NeuraPlox defines the Agent OS — governance, integration, orchestration between raw AI models and enterprise workflows.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EUROPEAN SOVEREIGNTY BY ARCHITECTURE:  </a:t>
            </a:r>
            <a:r>
              <a:rPr sz="1300" b="0">
                <a:solidFill>
                  <a:srgbClr val="CCDDEE"/>
                </a:solidFill>
                <a:latin typeface="Calibri"/>
              </a:rPr>
              <a:t>Cloud-agnostic, DSGVO-compliant PII detection, EU AI Act governance as product feature. Open standards at infrastructure layer, proprietary governance at value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THE MOAT IS THE OS:  </a:t>
            </a:r>
            <a:r>
              <a:rPr sz="1300" b="0">
                <a:solidFill>
                  <a:srgbClr val="CCDDEE"/>
                </a:solidFill>
                <a:latin typeface="Calibri"/>
              </a:rPr>
              <a:t>As AI models commoditize, the infrastructure making any model enterprise-safe is the durable asset. 3D-Policy, N+M connectors, agent registry — architecture-level 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PATH IS PROVEN:  </a:t>
            </a:r>
            <a:r>
              <a:rPr sz="1300" b="0">
                <a:solidFill>
                  <a:srgbClr val="CCDDEE"/>
                </a:solidFill>
                <a:latin typeface="Calibri"/>
              </a:rPr>
              <a:t>SAP from Walldorf, remberg from Munich, HiveMQ from Landshut — European deep tech built on domain expertise wins globally.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AA"/>
                </a:solidFill>
                <a:latin typeface="Calibri"/>
              </a:rPr>
              <a:t>THE OPPORTUNITY:  </a:t>
            </a:r>
            <a:r>
              <a:rPr sz="1300" b="0">
                <a:solidFill>
                  <a:srgbClr val="CCDDEE"/>
                </a:solidFill>
                <a:latin typeface="Calibri"/>
              </a:rPr>
              <a:t>€2M Seed. €237K ZIM secured. 25+ deployments. 15 people. EU AI Act tailwind. 93% German provider preference. kontakt@neurawork.de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1B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Global AI Platform Market: $18.2B → $94B by 2030 (38.9% CAGR)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93% of German companies prefer German AI providers (Bitkom 2025)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9893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AA"/>
                </a:solidFill>
                <a:latin typeface="Calibri"/>
              </a:defRPr>
            </a:pPr>
            <a:r>
              <a:t>BMWK investing €5B+ in AI and digital sovereignty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